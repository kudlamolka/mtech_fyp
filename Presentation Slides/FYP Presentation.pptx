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69" r:id="rId22"/>
  </p:sldIdLst>
  <p:sldSz cx="9144000" cy="5143500" type="screen16x9"/>
  <p:notesSz cx="6858000" cy="9144000"/>
  <p:embeddedFontLs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Raleway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A6156F-3151-4AAB-B3B7-1C2EDB7FB276}" v="7" dt="2026-06-18T05:29:08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1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eya Moleyar" userId="b51051ba856dafdf" providerId="LiveId" clId="{AB7CCA75-D7E2-42E3-A660-2E75CD62CFC8}"/>
    <pc:docChg chg="undo custSel addSld delSld modSld sldOrd">
      <pc:chgData name="Karthikeya Moleyar" userId="b51051ba856dafdf" providerId="LiveId" clId="{AB7CCA75-D7E2-42E3-A660-2E75CD62CFC8}" dt="2026-06-18T05:29:31.509" v="1270" actId="20577"/>
      <pc:docMkLst>
        <pc:docMk/>
      </pc:docMkLst>
      <pc:sldChg chg="modSp mod">
        <pc:chgData name="Karthikeya Moleyar" userId="b51051ba856dafdf" providerId="LiveId" clId="{AB7CCA75-D7E2-42E3-A660-2E75CD62CFC8}" dt="2026-06-13T03:48:25.703" v="487" actId="27636"/>
        <pc:sldMkLst>
          <pc:docMk/>
          <pc:sldMk cId="0" sldId="258"/>
        </pc:sldMkLst>
        <pc:spChg chg="mod">
          <ac:chgData name="Karthikeya Moleyar" userId="b51051ba856dafdf" providerId="LiveId" clId="{AB7CCA75-D7E2-42E3-A660-2E75CD62CFC8}" dt="2026-06-13T03:48:25.703" v="487" actId="27636"/>
          <ac:spMkLst>
            <pc:docMk/>
            <pc:sldMk cId="0" sldId="258"/>
            <ac:spMk id="99" creationId="{00000000-0000-0000-0000-000000000000}"/>
          </ac:spMkLst>
        </pc:spChg>
      </pc:sldChg>
      <pc:sldChg chg="modSp mod">
        <pc:chgData name="Karthikeya Moleyar" userId="b51051ba856dafdf" providerId="LiveId" clId="{AB7CCA75-D7E2-42E3-A660-2E75CD62CFC8}" dt="2026-06-13T03:48:25.716" v="488" actId="27636"/>
        <pc:sldMkLst>
          <pc:docMk/>
          <pc:sldMk cId="0" sldId="259"/>
        </pc:sldMkLst>
        <pc:spChg chg="mod">
          <ac:chgData name="Karthikeya Moleyar" userId="b51051ba856dafdf" providerId="LiveId" clId="{AB7CCA75-D7E2-42E3-A660-2E75CD62CFC8}" dt="2026-06-13T03:48:25.716" v="488" actId="27636"/>
          <ac:spMkLst>
            <pc:docMk/>
            <pc:sldMk cId="0" sldId="259"/>
            <ac:spMk id="105" creationId="{00000000-0000-0000-0000-000000000000}"/>
          </ac:spMkLst>
        </pc:spChg>
      </pc:sldChg>
      <pc:sldChg chg="modSp mod">
        <pc:chgData name="Karthikeya Moleyar" userId="b51051ba856dafdf" providerId="LiveId" clId="{AB7CCA75-D7E2-42E3-A660-2E75CD62CFC8}" dt="2026-06-13T03:48:25.726" v="489" actId="27636"/>
        <pc:sldMkLst>
          <pc:docMk/>
          <pc:sldMk cId="0" sldId="260"/>
        </pc:sldMkLst>
        <pc:spChg chg="mod">
          <ac:chgData name="Karthikeya Moleyar" userId="b51051ba856dafdf" providerId="LiveId" clId="{AB7CCA75-D7E2-42E3-A660-2E75CD62CFC8}" dt="2026-06-13T03:48:25.726" v="489" actId="27636"/>
          <ac:spMkLst>
            <pc:docMk/>
            <pc:sldMk cId="0" sldId="260"/>
            <ac:spMk id="111" creationId="{00000000-0000-0000-0000-000000000000}"/>
          </ac:spMkLst>
        </pc:spChg>
      </pc:sldChg>
      <pc:sldChg chg="ord modNotes">
        <pc:chgData name="Karthikeya Moleyar" userId="b51051ba856dafdf" providerId="LiveId" clId="{AB7CCA75-D7E2-42E3-A660-2E75CD62CFC8}" dt="2026-06-17T04:59:19.991" v="1054"/>
        <pc:sldMkLst>
          <pc:docMk/>
          <pc:sldMk cId="0" sldId="261"/>
        </pc:sldMkLst>
      </pc:sldChg>
      <pc:sldChg chg="ord modNotes">
        <pc:chgData name="Karthikeya Moleyar" userId="b51051ba856dafdf" providerId="LiveId" clId="{AB7CCA75-D7E2-42E3-A660-2E75CD62CFC8}" dt="2026-06-17T04:59:06.454" v="1050"/>
        <pc:sldMkLst>
          <pc:docMk/>
          <pc:sldMk cId="0" sldId="262"/>
        </pc:sldMkLst>
      </pc:sldChg>
      <pc:sldChg chg="modSp mod">
        <pc:chgData name="Karthikeya Moleyar" userId="b51051ba856dafdf" providerId="LiveId" clId="{AB7CCA75-D7E2-42E3-A660-2E75CD62CFC8}" dt="2026-06-13T03:48:25.743" v="490" actId="27636"/>
        <pc:sldMkLst>
          <pc:docMk/>
          <pc:sldMk cId="0" sldId="263"/>
        </pc:sldMkLst>
        <pc:spChg chg="mod">
          <ac:chgData name="Karthikeya Moleyar" userId="b51051ba856dafdf" providerId="LiveId" clId="{AB7CCA75-D7E2-42E3-A660-2E75CD62CFC8}" dt="2026-06-13T03:48:25.743" v="490" actId="27636"/>
          <ac:spMkLst>
            <pc:docMk/>
            <pc:sldMk cId="0" sldId="263"/>
            <ac:spMk id="131" creationId="{00000000-0000-0000-0000-000000000000}"/>
          </ac:spMkLst>
        </pc:spChg>
      </pc:sldChg>
      <pc:sldChg chg="modSp mod">
        <pc:chgData name="Karthikeya Moleyar" userId="b51051ba856dafdf" providerId="LiveId" clId="{AB7CCA75-D7E2-42E3-A660-2E75CD62CFC8}" dt="2026-06-13T04:16:53.794" v="1046" actId="20577"/>
        <pc:sldMkLst>
          <pc:docMk/>
          <pc:sldMk cId="0" sldId="269"/>
        </pc:sldMkLst>
        <pc:spChg chg="mod">
          <ac:chgData name="Karthikeya Moleyar" userId="b51051ba856dafdf" providerId="LiveId" clId="{AB7CCA75-D7E2-42E3-A660-2E75CD62CFC8}" dt="2026-06-13T04:16:29.016" v="999" actId="20577"/>
          <ac:spMkLst>
            <pc:docMk/>
            <pc:sldMk cId="0" sldId="269"/>
            <ac:spMk id="167" creationId="{00000000-0000-0000-0000-000000000000}"/>
          </ac:spMkLst>
        </pc:spChg>
        <pc:spChg chg="mod">
          <ac:chgData name="Karthikeya Moleyar" userId="b51051ba856dafdf" providerId="LiveId" clId="{AB7CCA75-D7E2-42E3-A660-2E75CD62CFC8}" dt="2026-06-13T04:16:53.794" v="1046" actId="20577"/>
          <ac:spMkLst>
            <pc:docMk/>
            <pc:sldMk cId="0" sldId="269"/>
            <ac:spMk id="168" creationId="{00000000-0000-0000-0000-000000000000}"/>
          </ac:spMkLst>
        </pc:spChg>
      </pc:sldChg>
      <pc:sldChg chg="modSp new mod">
        <pc:chgData name="Karthikeya Moleyar" userId="b51051ba856dafdf" providerId="LiveId" clId="{AB7CCA75-D7E2-42E3-A660-2E75CD62CFC8}" dt="2026-06-13T03:50:39.569" v="525" actId="27636"/>
        <pc:sldMkLst>
          <pc:docMk/>
          <pc:sldMk cId="611001636" sldId="270"/>
        </pc:sldMkLst>
        <pc:spChg chg="mod">
          <ac:chgData name="Karthikeya Moleyar" userId="b51051ba856dafdf" providerId="LiveId" clId="{AB7CCA75-D7E2-42E3-A660-2E75CD62CFC8}" dt="2026-06-13T03:50:15.540" v="513" actId="20577"/>
          <ac:spMkLst>
            <pc:docMk/>
            <pc:sldMk cId="611001636" sldId="270"/>
            <ac:spMk id="2" creationId="{5CBFA5A4-0344-C31C-2EFA-CC7FC359ACBD}"/>
          </ac:spMkLst>
        </pc:spChg>
        <pc:spChg chg="mod">
          <ac:chgData name="Karthikeya Moleyar" userId="b51051ba856dafdf" providerId="LiveId" clId="{AB7CCA75-D7E2-42E3-A660-2E75CD62CFC8}" dt="2026-06-13T03:50:39.569" v="525" actId="27636"/>
          <ac:spMkLst>
            <pc:docMk/>
            <pc:sldMk cId="611001636" sldId="270"/>
            <ac:spMk id="3" creationId="{235B240A-7498-B227-B85F-597EACFD11C1}"/>
          </ac:spMkLst>
        </pc:spChg>
      </pc:sldChg>
      <pc:sldChg chg="modSp new mod">
        <pc:chgData name="Karthikeya Moleyar" userId="b51051ba856dafdf" providerId="LiveId" clId="{AB7CCA75-D7E2-42E3-A660-2E75CD62CFC8}" dt="2026-06-13T03:52:15.654" v="587" actId="27636"/>
        <pc:sldMkLst>
          <pc:docMk/>
          <pc:sldMk cId="2439556651" sldId="271"/>
        </pc:sldMkLst>
        <pc:spChg chg="mod">
          <ac:chgData name="Karthikeya Moleyar" userId="b51051ba856dafdf" providerId="LiveId" clId="{AB7CCA75-D7E2-42E3-A660-2E75CD62CFC8}" dt="2026-06-13T03:52:09.979" v="585" actId="1076"/>
          <ac:spMkLst>
            <pc:docMk/>
            <pc:sldMk cId="2439556651" sldId="271"/>
            <ac:spMk id="2" creationId="{B9A2C8BC-F1B3-D84A-DF72-0AE055DFBC02}"/>
          </ac:spMkLst>
        </pc:spChg>
        <pc:spChg chg="mod">
          <ac:chgData name="Karthikeya Moleyar" userId="b51051ba856dafdf" providerId="LiveId" clId="{AB7CCA75-D7E2-42E3-A660-2E75CD62CFC8}" dt="2026-06-13T03:52:15.654" v="587" actId="27636"/>
          <ac:spMkLst>
            <pc:docMk/>
            <pc:sldMk cId="2439556651" sldId="271"/>
            <ac:spMk id="3" creationId="{1DE8B0F1-C606-456A-1326-766F192D962A}"/>
          </ac:spMkLst>
        </pc:spChg>
      </pc:sldChg>
      <pc:sldChg chg="modSp add mod">
        <pc:chgData name="Karthikeya Moleyar" userId="b51051ba856dafdf" providerId="LiveId" clId="{AB7CCA75-D7E2-42E3-A660-2E75CD62CFC8}" dt="2026-06-13T04:08:55.437" v="686" actId="27636"/>
        <pc:sldMkLst>
          <pc:docMk/>
          <pc:sldMk cId="2028815287" sldId="272"/>
        </pc:sldMkLst>
        <pc:spChg chg="mod">
          <ac:chgData name="Karthikeya Moleyar" userId="b51051ba856dafdf" providerId="LiveId" clId="{AB7CCA75-D7E2-42E3-A660-2E75CD62CFC8}" dt="2026-06-13T04:08:55.437" v="686" actId="27636"/>
          <ac:spMkLst>
            <pc:docMk/>
            <pc:sldMk cId="2028815287" sldId="272"/>
            <ac:spMk id="3" creationId="{FB2E6DBC-3F3A-F9A3-9955-673A0CE0E24D}"/>
          </ac:spMkLst>
        </pc:spChg>
      </pc:sldChg>
      <pc:sldChg chg="modSp new mod">
        <pc:chgData name="Karthikeya Moleyar" userId="b51051ba856dafdf" providerId="LiveId" clId="{AB7CCA75-D7E2-42E3-A660-2E75CD62CFC8}" dt="2026-06-13T04:14:00.148" v="852" actId="20577"/>
        <pc:sldMkLst>
          <pc:docMk/>
          <pc:sldMk cId="4283932461" sldId="273"/>
        </pc:sldMkLst>
        <pc:spChg chg="mod">
          <ac:chgData name="Karthikeya Moleyar" userId="b51051ba856dafdf" providerId="LiveId" clId="{AB7CCA75-D7E2-42E3-A660-2E75CD62CFC8}" dt="2026-06-13T04:12:30.912" v="720" actId="20577"/>
          <ac:spMkLst>
            <pc:docMk/>
            <pc:sldMk cId="4283932461" sldId="273"/>
            <ac:spMk id="2" creationId="{83523578-4132-3773-EBB6-53AA4E2CE275}"/>
          </ac:spMkLst>
        </pc:spChg>
        <pc:spChg chg="mod">
          <ac:chgData name="Karthikeya Moleyar" userId="b51051ba856dafdf" providerId="LiveId" clId="{AB7CCA75-D7E2-42E3-A660-2E75CD62CFC8}" dt="2026-06-13T04:14:00.148" v="852" actId="20577"/>
          <ac:spMkLst>
            <pc:docMk/>
            <pc:sldMk cId="4283932461" sldId="273"/>
            <ac:spMk id="3" creationId="{37090587-9782-EFF9-0B52-DD4B432CEC4E}"/>
          </ac:spMkLst>
        </pc:spChg>
      </pc:sldChg>
      <pc:sldChg chg="modSp new del mod">
        <pc:chgData name="Karthikeya Moleyar" userId="b51051ba856dafdf" providerId="LiveId" clId="{AB7CCA75-D7E2-42E3-A660-2E75CD62CFC8}" dt="2026-06-18T05:27:00.674" v="1217" actId="47"/>
        <pc:sldMkLst>
          <pc:docMk/>
          <pc:sldMk cId="1186576706" sldId="274"/>
        </pc:sldMkLst>
        <pc:spChg chg="mod">
          <ac:chgData name="Karthikeya Moleyar" userId="b51051ba856dafdf" providerId="LiveId" clId="{AB7CCA75-D7E2-42E3-A660-2E75CD62CFC8}" dt="2026-06-18T05:19:09.816" v="1118" actId="20577"/>
          <ac:spMkLst>
            <pc:docMk/>
            <pc:sldMk cId="1186576706" sldId="274"/>
            <ac:spMk id="2" creationId="{211B1756-B10B-1189-4FD5-8591ADDE8460}"/>
          </ac:spMkLst>
        </pc:spChg>
        <pc:spChg chg="mod">
          <ac:chgData name="Karthikeya Moleyar" userId="b51051ba856dafdf" providerId="LiveId" clId="{AB7CCA75-D7E2-42E3-A660-2E75CD62CFC8}" dt="2026-06-18T05:19:43.301" v="1185" actId="20577"/>
          <ac:spMkLst>
            <pc:docMk/>
            <pc:sldMk cId="1186576706" sldId="274"/>
            <ac:spMk id="3" creationId="{CE25906C-E6D9-1828-2056-3191913D6987}"/>
          </ac:spMkLst>
        </pc:spChg>
      </pc:sldChg>
      <pc:sldChg chg="modSp new mod">
        <pc:chgData name="Karthikeya Moleyar" userId="b51051ba856dafdf" providerId="LiveId" clId="{AB7CCA75-D7E2-42E3-A660-2E75CD62CFC8}" dt="2026-06-18T05:26:15.608" v="1216" actId="20577"/>
        <pc:sldMkLst>
          <pc:docMk/>
          <pc:sldMk cId="3303598969" sldId="275"/>
        </pc:sldMkLst>
        <pc:spChg chg="mod">
          <ac:chgData name="Karthikeya Moleyar" userId="b51051ba856dafdf" providerId="LiveId" clId="{AB7CCA75-D7E2-42E3-A660-2E75CD62CFC8}" dt="2026-06-18T05:25:23.395" v="1188" actId="27636"/>
          <ac:spMkLst>
            <pc:docMk/>
            <pc:sldMk cId="3303598969" sldId="275"/>
            <ac:spMk id="2" creationId="{3851FB98-2DC0-A2EA-9A0B-BC7D0E7E1040}"/>
          </ac:spMkLst>
        </pc:spChg>
        <pc:spChg chg="mod">
          <ac:chgData name="Karthikeya Moleyar" userId="b51051ba856dafdf" providerId="LiveId" clId="{AB7CCA75-D7E2-42E3-A660-2E75CD62CFC8}" dt="2026-06-18T05:26:15.608" v="1216" actId="20577"/>
          <ac:spMkLst>
            <pc:docMk/>
            <pc:sldMk cId="3303598969" sldId="275"/>
            <ac:spMk id="3" creationId="{E0D2085B-0ACA-E630-1C78-6E0A3B9E99B6}"/>
          </ac:spMkLst>
        </pc:spChg>
      </pc:sldChg>
      <pc:sldChg chg="modSp new mod">
        <pc:chgData name="Karthikeya Moleyar" userId="b51051ba856dafdf" providerId="LiveId" clId="{AB7CCA75-D7E2-42E3-A660-2E75CD62CFC8}" dt="2026-06-18T05:28:27.406" v="1261" actId="27636"/>
        <pc:sldMkLst>
          <pc:docMk/>
          <pc:sldMk cId="1776283259" sldId="276"/>
        </pc:sldMkLst>
        <pc:spChg chg="mod">
          <ac:chgData name="Karthikeya Moleyar" userId="b51051ba856dafdf" providerId="LiveId" clId="{AB7CCA75-D7E2-42E3-A660-2E75CD62CFC8}" dt="2026-06-18T05:28:13.358" v="1259" actId="20577"/>
          <ac:spMkLst>
            <pc:docMk/>
            <pc:sldMk cId="1776283259" sldId="276"/>
            <ac:spMk id="2" creationId="{77CF5CC4-DFE6-CB4D-CEFA-90E4B0223FFB}"/>
          </ac:spMkLst>
        </pc:spChg>
        <pc:spChg chg="mod">
          <ac:chgData name="Karthikeya Moleyar" userId="b51051ba856dafdf" providerId="LiveId" clId="{AB7CCA75-D7E2-42E3-A660-2E75CD62CFC8}" dt="2026-06-18T05:28:27.406" v="1261" actId="27636"/>
          <ac:spMkLst>
            <pc:docMk/>
            <pc:sldMk cId="1776283259" sldId="276"/>
            <ac:spMk id="3" creationId="{9BDC8489-073F-5BD1-EF89-0FC71E87A0FC}"/>
          </ac:spMkLst>
        </pc:spChg>
      </pc:sldChg>
      <pc:sldChg chg="modSp new mod">
        <pc:chgData name="Karthikeya Moleyar" userId="b51051ba856dafdf" providerId="LiveId" clId="{AB7CCA75-D7E2-42E3-A660-2E75CD62CFC8}" dt="2026-06-18T05:29:31.509" v="1270" actId="20577"/>
        <pc:sldMkLst>
          <pc:docMk/>
          <pc:sldMk cId="1861664270" sldId="277"/>
        </pc:sldMkLst>
        <pc:spChg chg="mod">
          <ac:chgData name="Karthikeya Moleyar" userId="b51051ba856dafdf" providerId="LiveId" clId="{AB7CCA75-D7E2-42E3-A660-2E75CD62CFC8}" dt="2026-06-18T05:29:31.509" v="1270" actId="20577"/>
          <ac:spMkLst>
            <pc:docMk/>
            <pc:sldMk cId="1861664270" sldId="277"/>
            <ac:spMk id="2" creationId="{FC104081-5D1C-830C-53F2-12C049F17EC5}"/>
          </ac:spMkLst>
        </pc:spChg>
        <pc:spChg chg="mod">
          <ac:chgData name="Karthikeya Moleyar" userId="b51051ba856dafdf" providerId="LiveId" clId="{AB7CCA75-D7E2-42E3-A660-2E75CD62CFC8}" dt="2026-06-18T05:29:16.510" v="1269" actId="15"/>
          <ac:spMkLst>
            <pc:docMk/>
            <pc:sldMk cId="1861664270" sldId="277"/>
            <ac:spMk id="3" creationId="{C2E8B962-01B2-CA27-27C0-5069E98FD6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9e337d7a7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9e337d7a7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9e337d7a7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9e337d7a7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9e337d7a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9e337d7a7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9e337d7a7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9e337d7a7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9e337d7a7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9e337d7a7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9c3492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9c3492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59c3492ac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59c3492ac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59c3492ac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59c3492ac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cf23727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cf23727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cf23727a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cf23727a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cf23727a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cf23727ab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cf23727a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cf23727a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cf23727a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cf23727a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Automated Data Quality Framework for Real-Time Pipelines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Aim and flow of project</a:t>
            </a:r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Aim is to be build a automated system to maintain the data quality in real time distributed environment.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Batch Validations are slow and expensive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Framework should be able to identify data issues as soon as data flows through the system.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Will use Kafka for ingestion and detect anomaly using tested system.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Will implement Dead Letter Queue for future analysis.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Prevent the corrupt data to move to Data warehouse.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/>
              <a:t>Match or improve the False Discovery Rate of the Batch Processing.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Block </a:t>
            </a:r>
            <a:br>
              <a:rPr lang="en-GB"/>
            </a:br>
            <a:r>
              <a:rPr lang="en-GB"/>
              <a:t>Diagram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4775" y="1228275"/>
            <a:ext cx="6294776" cy="34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Anomaly Detection in Streaming Data using Isolation Forest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latin typeface="Arial"/>
                <a:ea typeface="Arial"/>
                <a:cs typeface="Arial"/>
                <a:sym typeface="Arial"/>
              </a:rPr>
              <a:t>https://ieeexplore.ieee.org/document/10571907/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33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7650" y="227250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paper, they have investigated the Isolation Forest Algorithm for streaming data anomaly. They adopted a sliding window approach for training instead of batch to be relevant with most recent data.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 data point which is isolated with a lower average path length is considered to be anomaly record.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This work already supports the Kafka Streaming, but is not implemented on it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2823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Enhancing Real-Time Analytics Streaming Data Quality Metrics for Continuous Monitoring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latin typeface="Arial"/>
                <a:ea typeface="Arial"/>
                <a:cs typeface="Arial"/>
                <a:sym typeface="Arial"/>
              </a:rPr>
              <a:t>https://dl.acm.org/doi/epdf/10.1145/3686592.3686609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7650" y="2212000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paper focuses more on the metrics of data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Instead of simply labelling data as ‘Good’ or ‘Bad’, it gives different metrics on the below dimensions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Timeliness ( Are we getting the data on time 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Accuracy ( Are we getting the right data 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Completeness ( Are we getting all the data 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Consistency ( Are the data according to standards set 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There are few mathematical formulas discussed. Which could be used for metrics in the future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1579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Anomaly Detection for Automated Data Quality Monitoring in the CMS Detector (AutoDQM)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latin typeface="Arial"/>
                <a:ea typeface="Arial"/>
                <a:cs typeface="Arial"/>
                <a:sym typeface="Arial"/>
              </a:rPr>
              <a:t>https://link.springer.com/article/10.1007/s41781-025-00147-2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7650" y="21877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paper talks about designing the system for continuous high velocity system for telemetry data to prevent corrupt data from going to downstreams.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Statistical Testing : Beta Bionomial statistical test used against verified data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PCA : PCA based anomaly detected used to detect verified good runs.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It suggests Ensemble technique outperformed with False Positive Rate below 13%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This does not account for evolving schema and there is no DLQ.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7650" y="11739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Large-Scale Data Quality Challenges, Framework and Evaluation in Metro Systems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>
                <a:latin typeface="Arial"/>
                <a:ea typeface="Arial"/>
                <a:cs typeface="Arial"/>
                <a:sym typeface="Arial"/>
              </a:rPr>
              <a:t>https://ieeexplore.ieee.org/document/10705079/ 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27650" y="211102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paper has discussed about the Data Quality in Operational Metro Systems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They have implemented 3 failure models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Completeness Check Model (No Nulls), Statistical Outliers (using iForest Algoritm) and Semantic Corruption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They have defined 5 different quality metrics: Completeness Rate, Timeliness Index, Accuracy Rate, Consistency Rate, Semantic Validity.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These validations though are on streaming data, it is done once the data arrives to the warehouse.</a:t>
            </a:r>
            <a:endParaRPr/>
          </a:p>
        </p:txBody>
      </p:sp>
      <p:pic>
        <p:nvPicPr>
          <p:cNvPr id="112" name="Google Shape;112;p17" descr="the word new is written in black letters on a white background (provided by Tenor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9801" cy="2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Profile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Extracting the data of the Indian Stock Market for the top 100 stocks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Historical</a:t>
            </a:r>
            <a:br>
              <a:rPr lang="en-GB"/>
            </a:br>
            <a:r>
              <a:rPr lang="en-GB"/>
              <a:t>Will be using historical data for the FY 2025-26 to minute granularity.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 Script will be created to induce irregularity randomly.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Streaming</a:t>
            </a:r>
            <a:br>
              <a:rPr lang="en-GB" b="1"/>
            </a:br>
            <a:r>
              <a:rPr lang="en-GB"/>
              <a:t>For Real Time Processing as well, we will be using the same API and extracting the minute level data and will be subject to random irregularity inducing script.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Extraction in Progress</a:t>
            </a:r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55554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Leveraged the official high-fidelity API for programmatic access to historical market data via Python SDK integration.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Extracted the prices of 99 stocks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14 months of data was extracted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Simulating Anomalies</a:t>
            </a:r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Created a script to inject noise randomly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Select a random record every 1000 to 1000th Record to inject anomaly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Select a random numeric column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Corrupt bt 5 to 10 times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Keeping track on the induced anomaly for validation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Stock and Date is not subject to corruption.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 Engineering</a:t>
            </a: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727650" y="22046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1m Returns : Captures Relative price movement.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High-Low Spread Percentage : Identifies how the stock price has moved in the minute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Volume Z Score : Feature used to find out how unusual a specific minutes trading volume.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Price Deviation Percentage : It measures how minutes closing price has stayed with the trend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Validation Result</a:t>
            </a: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725" y="2018688"/>
            <a:ext cx="4548600" cy="23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could have gone wrong</a:t>
            </a:r>
            <a:endParaRPr/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The anomaly inducer script induced error on single feature.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Dropped the core features.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Improper Contamination Rate Selection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GB"/>
              <a:t>Sudden Rise and Fall of Price and Volume is the nature of markets.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FA5A4-0344-C31C-2EFA-CC7FC359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Changes Implemented and Result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B240A-7498-B227-B85F-597EACFD1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4"/>
            <a:ext cx="7688700" cy="3001125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High Frequency variation can constitute to noise, hence tried a larger time frame features</a:t>
            </a:r>
          </a:p>
          <a:p>
            <a:r>
              <a:rPr lang="en-IN" dirty="0"/>
              <a:t>Introduced the </a:t>
            </a:r>
          </a:p>
          <a:p>
            <a:pPr lvl="1"/>
            <a:r>
              <a:rPr lang="en-IN" dirty="0"/>
              <a:t>Price Deviation percentage in an hour</a:t>
            </a:r>
          </a:p>
          <a:p>
            <a:pPr lvl="1"/>
            <a:r>
              <a:rPr lang="en-IN" dirty="0"/>
              <a:t>Relative Price Change in 5 minutes</a:t>
            </a:r>
          </a:p>
          <a:p>
            <a:pPr marL="615950" lvl="1" indent="0">
              <a:buNone/>
            </a:pPr>
            <a:endParaRPr lang="en-IN" dirty="0"/>
          </a:p>
          <a:p>
            <a:pPr marL="146050" indent="0">
              <a:buNone/>
            </a:pPr>
            <a:r>
              <a:rPr lang="en-US" dirty="0"/>
              <a:t>================ VALIDATION REPORT ================</a:t>
            </a:r>
          </a:p>
          <a:p>
            <a:pPr marL="146050" indent="0">
              <a:buNone/>
            </a:pPr>
            <a:r>
              <a:rPr lang="en-US" dirty="0"/>
              <a:t>Total Anomalies Injected (Ground Truth): 1891</a:t>
            </a:r>
          </a:p>
          <a:p>
            <a:pPr marL="146050" indent="0">
              <a:buNone/>
            </a:pPr>
            <a:r>
              <a:rPr lang="en-US" dirty="0"/>
              <a:t>Total Anomalies Flagged by Model      : 52334</a:t>
            </a:r>
          </a:p>
          <a:p>
            <a:pPr marL="146050" indent="0">
              <a:buNone/>
            </a:pPr>
            <a:r>
              <a:rPr lang="en-US" dirty="0"/>
              <a:t>---------------------------------------------------</a:t>
            </a:r>
          </a:p>
          <a:p>
            <a:pPr marL="146050" indent="0">
              <a:buNone/>
            </a:pPr>
            <a:r>
              <a:rPr lang="en-US" dirty="0"/>
              <a:t>True Positives (Successfully Caught)  : 345</a:t>
            </a:r>
          </a:p>
          <a:p>
            <a:pPr marL="146050" indent="0">
              <a:buNone/>
            </a:pPr>
            <a:r>
              <a:rPr lang="en-US" dirty="0"/>
              <a:t>False Positives (False Alarms)        : 51989</a:t>
            </a:r>
          </a:p>
          <a:p>
            <a:pPr marL="146050" indent="0">
              <a:buNone/>
            </a:pPr>
            <a:r>
              <a:rPr lang="en-US" dirty="0"/>
              <a:t>False Negatives (Missed Anomalies)    : 1546</a:t>
            </a:r>
          </a:p>
          <a:p>
            <a:pPr marL="146050" indent="0">
              <a:buNone/>
            </a:pPr>
            <a:r>
              <a:rPr lang="en-US" dirty="0"/>
              <a:t>---------------------------------------------------</a:t>
            </a:r>
          </a:p>
          <a:p>
            <a:pPr marL="146050" indent="0">
              <a:buNone/>
            </a:pPr>
            <a:r>
              <a:rPr lang="en-US" dirty="0"/>
              <a:t>Precision (When it flags, how right is it?): 0.66%</a:t>
            </a:r>
          </a:p>
          <a:p>
            <a:pPr marL="146050" indent="0">
              <a:buNone/>
            </a:pPr>
            <a:r>
              <a:rPr lang="en-US" dirty="0"/>
              <a:t>Recall (What % of anomalies did it catch?): 18.24%</a:t>
            </a:r>
          </a:p>
          <a:p>
            <a:pPr marL="146050" indent="0">
              <a:buNone/>
            </a:pPr>
            <a:r>
              <a:rPr lang="en-US" dirty="0"/>
              <a:t>===================================================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001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C8BC-F1B3-D84A-DF72-0AE055DF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1236874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dirty="0"/>
              <a:t>Changes Implemented and Result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8B0F1-C606-456A-1326-766F192D9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641232"/>
            <a:ext cx="7688700" cy="3376818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Recall jumped from 2.17% to 18.24% (catching 345 anomalies instead of 41), and True Positives multiplied by nearly 8.5x.</a:t>
            </a:r>
          </a:p>
          <a:p>
            <a:r>
              <a:rPr lang="en-US" dirty="0"/>
              <a:t>Decreased the </a:t>
            </a:r>
            <a:r>
              <a:rPr lang="en-US" dirty="0" err="1"/>
              <a:t>contamination_rate</a:t>
            </a:r>
            <a:r>
              <a:rPr lang="en-US" dirty="0"/>
              <a:t> to 0.0005.</a:t>
            </a:r>
          </a:p>
          <a:p>
            <a:pPr marL="146050" indent="0">
              <a:buNone/>
            </a:pPr>
            <a:endParaRPr lang="en-US" dirty="0"/>
          </a:p>
          <a:p>
            <a:pPr marL="146050" indent="0">
              <a:buNone/>
            </a:pPr>
            <a:r>
              <a:rPr lang="en-US" dirty="0"/>
              <a:t>================ VALIDATION REPORT ================</a:t>
            </a:r>
          </a:p>
          <a:p>
            <a:pPr marL="146050" indent="0">
              <a:buNone/>
            </a:pPr>
            <a:r>
              <a:rPr lang="en-US" dirty="0"/>
              <a:t>Total Anomalies Injected (Ground Truth): 1891</a:t>
            </a:r>
          </a:p>
          <a:p>
            <a:pPr marL="146050" indent="0">
              <a:buNone/>
            </a:pPr>
            <a:r>
              <a:rPr lang="en-US" dirty="0"/>
              <a:t>Total Anomalies Flagged by Model      : 5228</a:t>
            </a:r>
          </a:p>
          <a:p>
            <a:pPr marL="146050" indent="0">
              <a:buNone/>
            </a:pPr>
            <a:r>
              <a:rPr lang="en-US" dirty="0"/>
              <a:t>---------------------------------------------------</a:t>
            </a:r>
          </a:p>
          <a:p>
            <a:pPr marL="146050" indent="0">
              <a:buNone/>
            </a:pPr>
            <a:r>
              <a:rPr lang="en-US" dirty="0"/>
              <a:t>True Positives (Successfully Caught)  : 1128</a:t>
            </a:r>
          </a:p>
          <a:p>
            <a:pPr marL="146050" indent="0">
              <a:buNone/>
            </a:pPr>
            <a:r>
              <a:rPr lang="en-US" dirty="0"/>
              <a:t>False Positives (False Alarms)        : 4100</a:t>
            </a:r>
          </a:p>
          <a:p>
            <a:pPr marL="146050" indent="0">
              <a:buNone/>
            </a:pPr>
            <a:r>
              <a:rPr lang="en-US" dirty="0"/>
              <a:t>False Negatives (Missed Anomalies)    : 763</a:t>
            </a:r>
          </a:p>
          <a:p>
            <a:pPr marL="146050" indent="0">
              <a:buNone/>
            </a:pPr>
            <a:r>
              <a:rPr lang="en-US" dirty="0"/>
              <a:t>---------------------------------------------------</a:t>
            </a:r>
          </a:p>
          <a:p>
            <a:pPr marL="146050" indent="0">
              <a:buNone/>
            </a:pPr>
            <a:r>
              <a:rPr lang="en-US" dirty="0"/>
              <a:t>Precision (When it flags, how right is it?): 21.58%</a:t>
            </a:r>
          </a:p>
          <a:p>
            <a:pPr marL="146050" indent="0">
              <a:buNone/>
            </a:pPr>
            <a:r>
              <a:rPr lang="en-US" dirty="0"/>
              <a:t>Recall (What % of anomalies did it catch?): 59.65%</a:t>
            </a:r>
          </a:p>
          <a:p>
            <a:pPr marL="146050" indent="0">
              <a:buNone/>
            </a:pPr>
            <a:r>
              <a:rPr lang="en-US" dirty="0"/>
              <a:t>===================================================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556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4AA75-3CDE-6B05-2856-FE0F189D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C9F5-8C29-DBB8-43D7-3A07CB6E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50" y="1236874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IN" dirty="0"/>
              <a:t>Changes Implemented and Result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E6DBC-3F3A-F9A3-9955-673A0CE0E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1641232"/>
            <a:ext cx="7688700" cy="337681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Instead of forcing a hard-coded percentile cutoff via .predict(), we extract continuous anomaly scores via .</a:t>
            </a:r>
            <a:r>
              <a:rPr lang="en-IN" dirty="0" err="1"/>
              <a:t>score_samples</a:t>
            </a:r>
            <a:r>
              <a:rPr lang="en-IN" dirty="0"/>
              <a:t>()</a:t>
            </a:r>
          </a:p>
          <a:p>
            <a:r>
              <a:rPr lang="en-IN" dirty="0"/>
              <a:t>Use the ROC Curve and found the </a:t>
            </a:r>
            <a:r>
              <a:rPr lang="en-IN" dirty="0" err="1"/>
              <a:t>Gmean</a:t>
            </a:r>
            <a:r>
              <a:rPr lang="en-IN" dirty="0"/>
              <a:t> to act a threshold.</a:t>
            </a:r>
          </a:p>
          <a:p>
            <a:endParaRPr lang="en-IN" dirty="0"/>
          </a:p>
          <a:p>
            <a:pPr marL="146050" indent="0">
              <a:buNone/>
            </a:pPr>
            <a:r>
              <a:rPr lang="en-US" dirty="0"/>
              <a:t>================ VALIDATION REPORT ================</a:t>
            </a:r>
          </a:p>
          <a:p>
            <a:pPr marL="146050" indent="0">
              <a:buNone/>
            </a:pPr>
            <a:r>
              <a:rPr lang="en-US" dirty="0"/>
              <a:t>Total Anomalies Injected (Ground Truth): 1891</a:t>
            </a:r>
          </a:p>
          <a:p>
            <a:pPr marL="146050" indent="0">
              <a:buNone/>
            </a:pPr>
            <a:r>
              <a:rPr lang="en-US" dirty="0"/>
              <a:t>Total Anomalies Flagged by Model      : 830318</a:t>
            </a:r>
          </a:p>
          <a:p>
            <a:pPr marL="146050" indent="0">
              <a:buNone/>
            </a:pPr>
            <a:r>
              <a:rPr lang="en-US" dirty="0"/>
              <a:t>---------------------------------------------------</a:t>
            </a:r>
          </a:p>
          <a:p>
            <a:pPr marL="146050" indent="0">
              <a:buNone/>
            </a:pPr>
            <a:r>
              <a:rPr lang="en-US" dirty="0"/>
              <a:t>True Positives (Successfully Caught)  : 1481</a:t>
            </a:r>
          </a:p>
          <a:p>
            <a:pPr marL="146050" indent="0">
              <a:buNone/>
            </a:pPr>
            <a:r>
              <a:rPr lang="en-US" dirty="0"/>
              <a:t>False Positives (False Alarms)        : 828837</a:t>
            </a:r>
          </a:p>
          <a:p>
            <a:pPr marL="146050" indent="0">
              <a:buNone/>
            </a:pPr>
            <a:r>
              <a:rPr lang="en-US" dirty="0"/>
              <a:t>False Negatives (Missed Anomalies)    : 410</a:t>
            </a:r>
          </a:p>
          <a:p>
            <a:pPr marL="146050" indent="0">
              <a:buNone/>
            </a:pPr>
            <a:r>
              <a:rPr lang="en-US" dirty="0"/>
              <a:t>---------------------------------------------------</a:t>
            </a:r>
          </a:p>
          <a:p>
            <a:pPr marL="146050" indent="0">
              <a:buNone/>
            </a:pPr>
            <a:r>
              <a:rPr lang="en-US" dirty="0"/>
              <a:t>Precision (When it flags, how right is it?): 0.18%</a:t>
            </a:r>
          </a:p>
          <a:p>
            <a:pPr marL="146050" indent="0">
              <a:buNone/>
            </a:pPr>
            <a:r>
              <a:rPr lang="en-US" dirty="0"/>
              <a:t>Recall (What % of anomalies did it catch?): 78.32%</a:t>
            </a:r>
          </a:p>
          <a:p>
            <a:pPr marL="146050" indent="0">
              <a:buNone/>
            </a:pPr>
            <a:r>
              <a:rPr lang="en-US" dirty="0"/>
              <a:t>===================================================</a:t>
            </a:r>
          </a:p>
        </p:txBody>
      </p:sp>
    </p:spTree>
    <p:extLst>
      <p:ext uri="{BB962C8B-B14F-4D97-AF65-F5344CB8AC3E}">
        <p14:creationId xmlns:p14="http://schemas.microsoft.com/office/powerpoint/2010/main" val="2028815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23578-4132-3773-EBB6-53AA4E2C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Results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90587-9782-EFF9-0B52-DD4B432CE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Good Recall, but Precision Fell</a:t>
            </a:r>
          </a:p>
          <a:p>
            <a:r>
              <a:rPr lang="en-IN" dirty="0"/>
              <a:t>The G-Mean treats the True Positive Rate (Recall) and the False Positive Rate with equal mathematical weight.</a:t>
            </a:r>
          </a:p>
          <a:p>
            <a:r>
              <a:rPr lang="en-IN" dirty="0"/>
              <a:t>Not Suitable for Imbalanced Dataset</a:t>
            </a:r>
          </a:p>
        </p:txBody>
      </p:sp>
    </p:spTree>
    <p:extLst>
      <p:ext uri="{BB962C8B-B14F-4D97-AF65-F5344CB8AC3E}">
        <p14:creationId xmlns:p14="http://schemas.microsoft.com/office/powerpoint/2010/main" val="4283932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FB98-2DC0-A2EA-9A0B-BC7D0E7E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Streaming </a:t>
            </a:r>
            <a:r>
              <a:rPr lang="en-IN" dirty="0" err="1"/>
              <a:t>SimulationArchitecture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2085B-0ACA-E630-1C78-6E0A3B9E9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46050" indent="0">
              <a:buNone/>
            </a:pPr>
            <a:r>
              <a:rPr lang="en-IN" b="1" dirty="0"/>
              <a:t>Data Producer (Emitter) </a:t>
            </a:r>
            <a:r>
              <a:rPr lang="en-IN" dirty="0"/>
              <a:t>(Script: data_producer.py)</a:t>
            </a:r>
          </a:p>
          <a:p>
            <a:r>
              <a:rPr lang="en-IN" dirty="0"/>
              <a:t>Loads historical market data chunks row-by-row into memory buffer.</a:t>
            </a:r>
          </a:p>
          <a:p>
            <a:r>
              <a:rPr lang="en-IN" dirty="0"/>
              <a:t>Streams events to downstream consumers via local TCP socket on port </a:t>
            </a:r>
            <a:r>
              <a:rPr lang="en-IN" b="1" dirty="0"/>
              <a:t>9999</a:t>
            </a:r>
            <a:r>
              <a:rPr lang="en-IN" dirty="0"/>
              <a:t>.</a:t>
            </a:r>
          </a:p>
          <a:p>
            <a:r>
              <a:rPr lang="en-IN" dirty="0"/>
              <a:t>Configurable flow controller delay allows customizable real-time emulation speeds.</a:t>
            </a:r>
          </a:p>
          <a:p>
            <a:endParaRPr lang="en-IN" dirty="0"/>
          </a:p>
          <a:p>
            <a:pPr marL="146050" indent="0">
              <a:buNone/>
            </a:pPr>
            <a:br>
              <a:rPr lang="en-IN" b="1" dirty="0"/>
            </a:br>
            <a:r>
              <a:rPr lang="en-IN" b="1" dirty="0"/>
              <a:t>Live Consumer &amp; Detector (</a:t>
            </a:r>
            <a:r>
              <a:rPr lang="en-IN" dirty="0"/>
              <a:t>Script: data_consumer.py)</a:t>
            </a:r>
          </a:p>
          <a:p>
            <a:r>
              <a:rPr lang="en-IN" dirty="0"/>
              <a:t>Continuously ingests micro-streams via socket network listener.</a:t>
            </a:r>
          </a:p>
          <a:p>
            <a:r>
              <a:rPr lang="en-IN" dirty="0"/>
              <a:t>Maintains localized sliding rolling memory windows per ticker symbol.</a:t>
            </a:r>
          </a:p>
          <a:p>
            <a:r>
              <a:rPr lang="en-IN" dirty="0"/>
              <a:t>Performs instant inference using pre-trained detection models.</a:t>
            </a:r>
          </a:p>
          <a:p>
            <a:r>
              <a:rPr lang="en-IN" dirty="0"/>
              <a:t>Publishes real-time anomaly alerts straight to target log registries.</a:t>
            </a:r>
          </a:p>
          <a:p>
            <a:pPr marL="1460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598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F5CC4-DFE6-CB4D-CEFA-90E4B0223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Real-Time Feature Computation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C8489-073F-5BD1-EF89-0FC71E87A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Sliding Buffer Allocation</a:t>
            </a:r>
          </a:p>
          <a:p>
            <a:r>
              <a:rPr lang="en-IN" dirty="0"/>
              <a:t>To maintain state without storing database tables, the stream pipeline allocates static in-memory sliding windows for rolling calculations.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Closing Price Window</a:t>
            </a:r>
          </a:p>
          <a:p>
            <a:pPr lvl="1"/>
            <a:r>
              <a:rPr lang="en-IN" dirty="0"/>
              <a:t>Tracks short-term historical deviations</a:t>
            </a:r>
          </a:p>
          <a:p>
            <a:r>
              <a:rPr lang="en-IN" b="1" dirty="0"/>
              <a:t>Trading Volume Window</a:t>
            </a:r>
          </a:p>
          <a:p>
            <a:pPr lvl="1"/>
            <a:r>
              <a:rPr lang="en-IN" dirty="0"/>
              <a:t>Detects sudden liquidity &amp; transaction surges</a:t>
            </a:r>
          </a:p>
          <a:p>
            <a:r>
              <a:rPr lang="en-IN" b="1" dirty="0"/>
              <a:t>General Market State</a:t>
            </a:r>
          </a:p>
          <a:p>
            <a:pPr lvl="1"/>
            <a:r>
              <a:rPr lang="en-IN" dirty="0"/>
              <a:t>Correlates asset shifts with market broad benchmark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283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4081-5D1C-830C-53F2-12C049F17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Technical Implementation &amp; Inventory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8B962-01B2-CA27-27C0-5069E98FD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 Network Communication Interface</a:t>
            </a:r>
          </a:p>
          <a:p>
            <a:pPr lvl="1"/>
            <a:r>
              <a:rPr lang="en-IN" dirty="0"/>
              <a:t>Encapsulated payloads are serialized to </a:t>
            </a:r>
            <a:r>
              <a:rPr lang="en-IN" b="1" dirty="0"/>
              <a:t>JSON string arrays</a:t>
            </a:r>
            <a:r>
              <a:rPr lang="en-IN" dirty="0"/>
              <a:t> and dispatched over continuous TCP sockets with standard newline (`\n`) formatting delimiters.</a:t>
            </a:r>
          </a:p>
          <a:p>
            <a:r>
              <a:rPr lang="en-IN" b="1" dirty="0"/>
              <a:t> Zero-Variance Feature Consistency</a:t>
            </a:r>
          </a:p>
          <a:p>
            <a:pPr lvl="1"/>
            <a:r>
              <a:rPr lang="en-IN" dirty="0"/>
              <a:t>In-memory real-time sliding calculation utilizes identical formulas and standard deviations as the historic batch model, ensuring 100% test reliability.</a:t>
            </a:r>
          </a:p>
          <a:p>
            <a:r>
              <a:rPr lang="en-IN" b="1" dirty="0"/>
              <a:t> Output Logging &amp; Alerting</a:t>
            </a:r>
          </a:p>
          <a:p>
            <a:pPr lvl="1"/>
            <a:r>
              <a:rPr lang="en-IN" dirty="0"/>
              <a:t>All detected anomalies are persistently logged to disk: logs/</a:t>
            </a:r>
            <a:r>
              <a:rPr lang="en-IN" dirty="0" err="1"/>
              <a:t>streaming_anomalies</a:t>
            </a:r>
            <a:r>
              <a:rPr lang="en-IN" dirty="0"/>
              <a:t>_*.csv.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664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Next Week Plans (14-20 June)</a:t>
            </a:r>
            <a:endParaRPr dirty="0"/>
          </a:p>
        </p:txBody>
      </p:sp>
      <p:sp>
        <p:nvSpPr>
          <p:cNvPr id="168" name="Google Shape;168;p2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IN" dirty="0"/>
              <a:t>Explore different threshold identification strategies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IN" dirty="0"/>
              <a:t>Transition to Real Time Anomaly detection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en-IN" dirty="0"/>
              <a:t>Try the Statistical </a:t>
            </a:r>
            <a:r>
              <a:rPr lang="en-IN"/>
              <a:t>Tail Isolation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1356</Words>
  <Application>Microsoft Office PowerPoint</Application>
  <PresentationFormat>On-screen Show (16:9)</PresentationFormat>
  <Paragraphs>148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Lato</vt:lpstr>
      <vt:lpstr>Raleway</vt:lpstr>
      <vt:lpstr>Arial</vt:lpstr>
      <vt:lpstr>Streamline</vt:lpstr>
      <vt:lpstr>Automated Data Quality Framework for Real-Time Pipelines</vt:lpstr>
      <vt:lpstr>Aim and flow of project</vt:lpstr>
      <vt:lpstr>Block  Diagram</vt:lpstr>
      <vt:lpstr>Anomaly Detection in Streaming Data using Isolation Forest https://ieeexplore.ieee.org/document/10571907/ </vt:lpstr>
      <vt:lpstr>Enhancing Real-Time Analytics Streaming Data Quality Metrics for Continuous Monitoring https://dl.acm.org/doi/epdf/10.1145/3686592.3686609 </vt:lpstr>
      <vt:lpstr>Anomaly Detection for Automated Data Quality Monitoring in the CMS Detector (AutoDQM) https://link.springer.com/article/10.1007/s41781-025-00147-2</vt:lpstr>
      <vt:lpstr>Large-Scale Data Quality Challenges, Framework and Evaluation in Metro Systems https://ieeexplore.ieee.org/document/10705079/ </vt:lpstr>
      <vt:lpstr>Data Profile</vt:lpstr>
      <vt:lpstr>Data Extraction in Progress</vt:lpstr>
      <vt:lpstr>Simulating Anomalies</vt:lpstr>
      <vt:lpstr>Feature Engineering</vt:lpstr>
      <vt:lpstr>Validation Result</vt:lpstr>
      <vt:lpstr>What could have gone wrong</vt:lpstr>
      <vt:lpstr>Changes Implemented and Result</vt:lpstr>
      <vt:lpstr>Changes Implemented and Result</vt:lpstr>
      <vt:lpstr>Changes Implemented and Result</vt:lpstr>
      <vt:lpstr>Results Review</vt:lpstr>
      <vt:lpstr>Streaming SimulationArchitecture </vt:lpstr>
      <vt:lpstr>Real-Time Feature Computation </vt:lpstr>
      <vt:lpstr>Technical Implementation &amp; Inventory </vt:lpstr>
      <vt:lpstr>Next Week Plans (14-20 June)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Karthikeya Moleyar</cp:lastModifiedBy>
  <cp:revision>1</cp:revision>
  <dcterms:modified xsi:type="dcterms:W3CDTF">2026-06-18T05:29:37Z</dcterms:modified>
</cp:coreProperties>
</file>